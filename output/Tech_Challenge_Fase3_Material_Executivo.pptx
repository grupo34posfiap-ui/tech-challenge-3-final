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965960"/>
            <a:ext cx="219456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402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0B0B0B"/>
                </a:solidFill>
                <a:latin typeface="Helvetica Neue"/>
              </a:rPr>
              <a:t>O mercado brasileiro de Dados e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29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52514E"/>
                </a:solidFill>
                <a:latin typeface="Helvetica Neue"/>
              </a:rPr>
              <a:t>Evidências de três edições do State of Data Brasil para decisões</a:t>
            </a:r>
          </a:p>
          <a:p>
            <a:pPr algn="l">
              <a:lnSpc>
                <a:spcPct val="130000"/>
              </a:lnSpc>
            </a:pPr>
            <a:r>
              <a:rPr sz="1800" b="0">
                <a:solidFill>
                  <a:srgbClr val="52514E"/>
                </a:solidFill>
                <a:latin typeface="Helvetica Neue"/>
              </a:rPr>
              <a:t>de contratação, capacitação e investimento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2817C"/>
                </a:solidFill>
                <a:latin typeface="Helvetica Neue"/>
              </a:rPr>
              <a:t>Tech Challenge — Fase 3   ·   2023-24 · 2024-25 · 2025-26   ·   14.002 respondentes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6235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2817C"/>
                </a:solidFill>
                <a:latin typeface="Helvetica Neue"/>
              </a:rPr>
              <a:t>Grupo 34   ·   Arthur Dalbello Vicentini, Giovani dos Reis Gil, Pedro Henrique Bitencourt Dias, Luiz Henrique Gusmão Souto e Silva, Enrique Jorge Matuoka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0B0B"/>
                </a:solidFill>
                <a:latin typeface="Helvetica Neue"/>
              </a:rPr>
              <a:t>O problema de negócio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514E"/>
                </a:solidFill>
                <a:latin typeface="Helvetica Neue"/>
              </a:rPr>
              <a:t>Uma instituição financeira de grande porte quer expandir sua área de Dados, Analytics e IA — e precisa de evidência, não de intuição.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50292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01368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0B0B"/>
                </a:solidFill>
                <a:latin typeface="Helvetica Neue"/>
              </a:rPr>
              <a:t>Quem contratar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2514E"/>
                </a:solidFill>
                <a:latin typeface="Helvetica Neue"/>
              </a:rPr>
              <a:t>Quais famílias de carreira formam o mercado, qual o custo de cada uma e onde está a escassez de profissionais maduros.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691640"/>
            <a:ext cx="502920" cy="508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801368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0B0B"/>
                </a:solidFill>
                <a:latin typeface="Helvetica Neue"/>
              </a:rPr>
              <a:t>Quanto pagar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194560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2514E"/>
                </a:solidFill>
                <a:latin typeface="Helvetica Neue"/>
              </a:rPr>
              <a:t>Faixas de remuneração por senioridade, cargo e região, com a dispersão que uma proposta precisa considerar.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520440"/>
            <a:ext cx="50292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630168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0B0B"/>
                </a:solidFill>
                <a:latin typeface="Helvetica Neue"/>
              </a:rPr>
              <a:t>Onde contratar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2514E"/>
                </a:solidFill>
                <a:latin typeface="Helvetica Neue"/>
              </a:rPr>
              <a:t>Diferença real de custo entre regiões e o papel do trabalho remoto em ampliar o funil de talentos.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3520440"/>
            <a:ext cx="502920" cy="508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3630168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0B0B"/>
                </a:solidFill>
                <a:latin typeface="Helvetica Neue"/>
              </a:rPr>
              <a:t>Onde investir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23360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2514E"/>
                </a:solidFill>
                <a:latin typeface="Helvetica Neue"/>
              </a:rPr>
              <a:t>Quais tecnologias têm adoção consolidada e qual o estágio real de adoção de IA generativa nas empresas.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2817C"/>
                </a:solidFill>
                <a:latin typeface="Helvetica Neue"/>
              </a:rPr>
              <a:t>Fonte: State of Data Brasil — pesquisa conduzida pela comunidade Data Hackers em parceria com a Bain &amp; Company.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B0B0B"/>
                </a:solidFill>
                <a:latin typeface="Helvetica Neue"/>
              </a:rPr>
              <a:t>A solução: um pipeline em camadas sobre a 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514E"/>
                </a:solidFill>
                <a:latin typeface="Helvetica Neue"/>
              </a:rPr>
              <a:t>Da ingestão dos CSVs brutos à consulta analítica catalogada — processamento distribuído com Spark no AWS Glue</a:t>
            </a:r>
          </a:p>
        </p:txBody>
      </p:sp>
      <p:pic>
        <p:nvPicPr>
          <p:cNvPr id="4" name="Picture 3" descr="00_arquite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" y="1371600"/>
            <a:ext cx="11064240" cy="46257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2817C"/>
                </a:solidFill>
                <a:latin typeface="Helvetica Neue"/>
              </a:rPr>
              <a:t>Diagrama editável em architecture/arquitetura_aws.drawio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0B0B"/>
                </a:solidFill>
                <a:latin typeface="Helvetica Neue"/>
              </a:rPr>
              <a:t>Como os dados foram tratados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514E"/>
                </a:solidFill>
                <a:latin typeface="Helvetica Neue"/>
              </a:rPr>
              <a:t>As três edições não compartilham nomes de coluna nem o mesmo conjunto de perguntas. Harmonizá-las foi o principal desafio técnico.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50292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01368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0B0B"/>
                </a:solidFill>
                <a:latin typeface="Helvetica Neue"/>
              </a:rPr>
              <a:t>Cabeçalhos incompatíveis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2514E"/>
                </a:solidFill>
                <a:latin typeface="Helvetica Neue"/>
              </a:rPr>
              <a:t>A edição 2023 usa tuplas serializadas (("P1_a", "Idade")); as seguintes usam código pontuado (1.a_idade). Ambos convergem para um identificador único.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691640"/>
            <a:ext cx="502920" cy="508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801368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0B0B"/>
                </a:solidFill>
                <a:latin typeface="Helvetica Neue"/>
              </a:rPr>
              <a:t>Códigos que se deslocam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194560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2514E"/>
                </a:solidFill>
                <a:latin typeface="Helvetica Neue"/>
              </a:rPr>
              <a:t>A mesma pergunta muda de letra entre edições — modelo de trabalho é P2_r em 2024 e P2_q em 2025. O mapeamento é feito pela semântica, nunca pelo código.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520440"/>
            <a:ext cx="50292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630168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0B0B"/>
                </a:solidFill>
                <a:latin typeface="Helvetica Neue"/>
              </a:rPr>
              <a:t>Perguntas que nascem e morrem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2514E"/>
                </a:solidFill>
                <a:latin typeface="Helvetica Neue"/>
              </a:rPr>
              <a:t>2025 removeu o bloco de linguagens; 2023 não perguntou sobre cloud. Ausência é registrada como NULL e nunca convertida em zero.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3520440"/>
            <a:ext cx="502920" cy="508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3630168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0B0B"/>
                </a:solidFill>
                <a:latin typeface="Helvetica Neue"/>
              </a:rPr>
              <a:t>Rigor estatístico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23360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2514E"/>
                </a:solidFill>
                <a:latin typeface="Helvetica Neue"/>
              </a:rPr>
              <a:t>Salário em faixas vira ponto médio; usa-se mediana além da média; recortes com menos de 30 respondentes são sinalizados como amostra insuficiente.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2817C"/>
                </a:solidFill>
                <a:latin typeface="Helvetica Neue"/>
              </a:rPr>
              <a:t>Base consolidada: 14.002 respondentes (2023: 5.293; 2024: 5.215; 2025: 3.494)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0B0B"/>
                </a:solidFill>
                <a:latin typeface="Helvetica Neue"/>
              </a:rPr>
              <a:t>O que os dados dizem, em cinco números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514E"/>
                </a:solidFill>
                <a:latin typeface="Helvetica Neue"/>
              </a:rPr>
              <a:t>Edição 2025-26, salvo indicação em contrário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103120"/>
            <a:ext cx="712601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203600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2A78D6"/>
                </a:solidFill>
                <a:latin typeface="Helvetica Neue"/>
              </a:rPr>
              <a:t>4,0x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29000"/>
            <a:ext cx="203600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2514E"/>
                </a:solidFill>
                <a:latin typeface="Helvetica Neue"/>
              </a:rPr>
              <a:t>o Sênior ganha o salário do Júnior — o prêmio de senioridade é o maior retorno da carreira</a:t>
            </a:r>
          </a:p>
        </p:txBody>
      </p:sp>
      <p:sp>
        <p:nvSpPr>
          <p:cNvPr id="7" name="Rectangle 6"/>
          <p:cNvSpPr/>
          <p:nvPr/>
        </p:nvSpPr>
        <p:spPr>
          <a:xfrm>
            <a:off x="2813243" y="2103120"/>
            <a:ext cx="712601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13243" y="2331720"/>
            <a:ext cx="203600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2A78D6"/>
                </a:solidFill>
                <a:latin typeface="Helvetica Neue"/>
              </a:rPr>
              <a:t>98%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13243" y="3429000"/>
            <a:ext cx="203600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2514E"/>
                </a:solidFill>
                <a:latin typeface="Helvetica Neue"/>
              </a:rPr>
              <a:t>dos profissionais já usam IA generativa no trabalho, contra 80% duas edições atrás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7846" y="2103120"/>
            <a:ext cx="712601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7846" y="2331720"/>
            <a:ext cx="203600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2A78D6"/>
                </a:solidFill>
                <a:latin typeface="Helvetica Neue"/>
              </a:rPr>
              <a:t>36 p.p.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7846" y="3429000"/>
            <a:ext cx="203600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2514E"/>
                </a:solidFill>
                <a:latin typeface="Helvetica Neue"/>
              </a:rPr>
              <a:t>de contraste entre dois blocos do questionário: uso pessoal de IA (n=2.105) e priorização pela empresa (n=638) — amostras distintas, não a mesma pessoa antes e depois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42449" y="2103120"/>
            <a:ext cx="712601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42449" y="2331720"/>
            <a:ext cx="203600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2A78D6"/>
                </a:solidFill>
                <a:latin typeface="Helvetica Neue"/>
              </a:rPr>
              <a:t>22%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42449" y="3429000"/>
            <a:ext cx="203600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2514E"/>
                </a:solidFill>
                <a:latin typeface="Helvetica Neue"/>
              </a:rPr>
              <a:t>de mulheres no mercado — participação em queda desde 24%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7052" y="2103120"/>
            <a:ext cx="712601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7052" y="2331720"/>
            <a:ext cx="203600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2A78D6"/>
                </a:solidFill>
                <a:latin typeface="Helvetica Neue"/>
              </a:rPr>
              <a:t>26%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7052" y="3429000"/>
            <a:ext cx="2036003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2514E"/>
                </a:solidFill>
                <a:latin typeface="Helvetica Neue"/>
              </a:rPr>
              <a:t>dos respondentes do bloco organizacional relatam que a empresa já colhe resultado com IA — o restante ainda está em piloto ou nem começou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2A78D6"/>
                </a:solidFill>
                <a:latin typeface="Helvetica Neue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960120" y="3429000"/>
            <a:ext cx="201168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7033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B0B0B"/>
                </a:solidFill>
                <a:latin typeface="Helvetica Neue"/>
              </a:rPr>
              <a:t>Como está estruturado o mercado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2514E"/>
                </a:solidFill>
                <a:latin typeface="Helvetica Neue"/>
              </a:rPr>
              <a:t>Quem são, quantos são e em que nível de carreira estão os profissionais de dados no Brasil?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B0B0B"/>
                </a:solidFill>
                <a:latin typeface="Helvetica Neue"/>
              </a:rPr>
              <a:t>Analista de Dados concentra o maior volume do mercado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514E"/>
                </a:solidFill>
                <a:latin typeface="Helvetica Neue"/>
              </a:rPr>
              <a:t>599 profissionais na edição 2025-26 — a principal porta de entrada da área</a:t>
            </a:r>
          </a:p>
        </p:txBody>
      </p:sp>
      <p:pic>
        <p:nvPicPr>
          <p:cNvPr id="4" name="Picture 3" descr="01_composicao_merc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230" y="1371600"/>
            <a:ext cx="741923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B0B0B"/>
                </a:solidFill>
                <a:latin typeface="Helvetica Neue"/>
              </a:rPr>
              <a:t>A fatia de Júnior encolheu ao longo das três edições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514E"/>
                </a:solidFill>
                <a:latin typeface="Helvetica Neue"/>
              </a:rPr>
              <a:t>Também surge uma faixa de Especialista/Staff+ acima do Sênior — mas essa categoria só passou a ser perguntada separadamente em 2025-26, então parte do efeito é mudança no questionário, não só no mercado</a:t>
            </a:r>
          </a:p>
        </p:txBody>
      </p:sp>
      <p:pic>
        <p:nvPicPr>
          <p:cNvPr id="4" name="Picture 3" descr="02_piramide_seniori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911" y="1371600"/>
            <a:ext cx="10087873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2817C"/>
                </a:solidFill>
                <a:latin typeface="Helvetica Neue"/>
              </a:rPr>
              <a:t>Considera apenas respondentes com nível de carreira declarado; desempregados e estudantes ficam fora deste recorte.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2A78D6"/>
                </a:solidFill>
                <a:latin typeface="Helvetica Neue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960120" y="3429000"/>
            <a:ext cx="201168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7033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B0B0B"/>
                </a:solidFill>
                <a:latin typeface="Helvetica Neue"/>
              </a:rPr>
              <a:t>Quais perfis o mercado mais valoriza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2514E"/>
                </a:solidFill>
                <a:latin typeface="Helvetica Neue"/>
              </a:rPr>
              <a:t>Onde está o prêmio de remuneração — por carreira, por senioridade e ao longo do tempo?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B0B0B"/>
                </a:solidFill>
                <a:latin typeface="Helvetica Neue"/>
              </a:rPr>
              <a:t>ML Engineer / MLOps lidera com mediana de R$ 18.000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514E"/>
                </a:solidFill>
                <a:latin typeface="Helvetica Neue"/>
              </a:rPr>
              <a:t>A faixa interquartil mostra a dispersão que uma proposta precisa considerar — carreiras técnicas de ponta variam muito mais</a:t>
            </a:r>
          </a:p>
        </p:txBody>
      </p:sp>
      <p:pic>
        <p:nvPicPr>
          <p:cNvPr id="4" name="Picture 3" descr="04_salario_por_car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752" y="1371600"/>
            <a:ext cx="771219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B0B0B"/>
                </a:solidFill>
                <a:latin typeface="Helvetica Neue"/>
              </a:rPr>
              <a:t>Subir de Júnior a Sênior multiplica o salário por 4,0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514E"/>
                </a:solidFill>
                <a:latin typeface="Helvetica Neue"/>
              </a:rPr>
              <a:t>Nenhuma outra variável do estudo — formação, região ou tecnologia — produz um salto de remuneração dessa magnitude</a:t>
            </a:r>
          </a:p>
        </p:txBody>
      </p:sp>
      <p:pic>
        <p:nvPicPr>
          <p:cNvPr id="4" name="Picture 3" descr="03_premio_seniori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816" y="1371600"/>
            <a:ext cx="7904063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B0B0B"/>
                </a:solidFill>
                <a:latin typeface="Helvetica Neue"/>
              </a:rPr>
              <a:t>Só o topo da carreira teve reajuste ao longo das três edições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514E"/>
                </a:solidFill>
                <a:latin typeface="Helvetica Neue"/>
              </a:rPr>
              <a:t>A mediana de Júnior e Pleno ficou parada; a de Sênior saltou para R$ 14.000</a:t>
            </a:r>
          </a:p>
        </p:txBody>
      </p:sp>
      <p:pic>
        <p:nvPicPr>
          <p:cNvPr id="4" name="Picture 3" descr="11_evolucao_salario_seniori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0926" y="1371600"/>
            <a:ext cx="7249843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2817C"/>
                </a:solidFill>
                <a:latin typeface="Helvetica Neue"/>
              </a:rPr>
              <a:t>Valores nominais, sem correção pela inflação — em termos reais, a estabilidade de Júnior e Pleno representa perda de poder de compra.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2A78D6"/>
                </a:solidFill>
                <a:latin typeface="Helvetica Neue"/>
              </a:rPr>
              <a:t>03</a:t>
            </a:r>
          </a:p>
        </p:txBody>
      </p:sp>
      <p:sp>
        <p:nvSpPr>
          <p:cNvPr id="3" name="Rectangle 2"/>
          <p:cNvSpPr/>
          <p:nvPr/>
        </p:nvSpPr>
        <p:spPr>
          <a:xfrm>
            <a:off x="960120" y="3429000"/>
            <a:ext cx="201168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7033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B0B0B"/>
                </a:solidFill>
                <a:latin typeface="Helvetica Neue"/>
              </a:rPr>
              <a:t>O cenário de diversidade de gênero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2514E"/>
                </a:solidFill>
                <a:latin typeface="Helvetica Neue"/>
              </a:rPr>
              <a:t>A representatividade feminina está avançando? E existe diferença de remuneração?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B0B0B"/>
                </a:solidFill>
                <a:latin typeface="Helvetica Neue"/>
              </a:rPr>
              <a:t>A participação feminina caiu de 24,4% para 21,9%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514E"/>
                </a:solidFill>
                <a:latin typeface="Helvetica Neue"/>
              </a:rPr>
              <a:t>A tendência é de retração ao longo das três edições — não de avanço</a:t>
            </a:r>
          </a:p>
        </p:txBody>
      </p:sp>
      <p:pic>
        <p:nvPicPr>
          <p:cNvPr id="4" name="Picture 3" descr="05_representatividade_gen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9259" y="1371600"/>
            <a:ext cx="7753177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B0B0B"/>
                </a:solidFill>
                <a:latin typeface="Helvetica Neue"/>
              </a:rPr>
              <a:t>O gap salarial não existe na base — ele se abre no topo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514E"/>
                </a:solidFill>
                <a:latin typeface="Helvetica Neue"/>
              </a:rPr>
              <a:t>Entre Sênior, a mediana feminina é 29% menor que a masculina; entre Júnior e Pleno não há diferença</a:t>
            </a:r>
          </a:p>
        </p:txBody>
      </p:sp>
      <p:pic>
        <p:nvPicPr>
          <p:cNvPr id="4" name="Picture 3" descr="06_gap_salarial_gen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001" y="1371600"/>
            <a:ext cx="7653692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2817C"/>
                </a:solidFill>
                <a:latin typeface="Helvetica Neue"/>
              </a:rPr>
              <a:t>Controlar por senioridade separa diferença de remuneração de diferença de composição — as duas exigem respostas distintas.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2A78D6"/>
                </a:solidFill>
                <a:latin typeface="Helvetica Neue"/>
              </a:rPr>
              <a:t>04</a:t>
            </a:r>
          </a:p>
        </p:txBody>
      </p:sp>
      <p:sp>
        <p:nvSpPr>
          <p:cNvPr id="3" name="Rectangle 2"/>
          <p:cNvSpPr/>
          <p:nvPr/>
        </p:nvSpPr>
        <p:spPr>
          <a:xfrm>
            <a:off x="960120" y="3429000"/>
            <a:ext cx="201168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7033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B0B0B"/>
                </a:solidFill>
                <a:latin typeface="Helvetica Neue"/>
              </a:rPr>
              <a:t>Tecnologias e adoção de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2514E"/>
                </a:solidFill>
                <a:latin typeface="Helvetica Neue"/>
              </a:rPr>
              <a:t>Qual é a stack consolidada do mercado e em que estágio está a adoção de inteligência artificial?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B0B0B"/>
                </a:solidFill>
                <a:latin typeface="Helvetica Neue"/>
              </a:rPr>
              <a:t>SQL e AWS são as apostas seguras da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514E"/>
                </a:solidFill>
                <a:latin typeface="Helvetica Neue"/>
              </a:rPr>
              <a:t>SQL em 88% dos profissionais, AWS em 48% e Power BI em 59%</a:t>
            </a:r>
          </a:p>
        </p:txBody>
      </p:sp>
      <p:pic>
        <p:nvPicPr>
          <p:cNvPr id="4" name="Picture 3" descr="07_tecnolog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513" y="1371600"/>
            <a:ext cx="6656668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2817C"/>
                </a:solidFill>
                <a:latin typeface="Helvetica Neue"/>
              </a:rPr>
              <a:t>Percentuais calculados sobre quem respondeu cada bloco do questionário, não sobre o total de respondentes.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B0B0B"/>
                </a:solidFill>
                <a:latin typeface="Helvetica Neue"/>
              </a:rPr>
              <a:t>98% usam IA no trabalho; 62% relatam que a empresa prioriza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514E"/>
                </a:solidFill>
                <a:latin typeface="Helvetica Neue"/>
              </a:rPr>
              <a:t>Dois blocos distintos do questionário, sem respondentes em comum: uso pessoal (n=2.105) e priorização organizacional (n=638) — o contraste de 36 p.p. é entre blocos, não dentro da mesma amostra</a:t>
            </a:r>
          </a:p>
        </p:txBody>
      </p:sp>
      <p:pic>
        <p:nvPicPr>
          <p:cNvPr id="4" name="Picture 3" descr="08_adocao_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" y="1371600"/>
            <a:ext cx="11064240" cy="469668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B0B0B"/>
                </a:solidFill>
                <a:latin typeface="Helvetica Neue"/>
              </a:rPr>
              <a:t>Só 26% do bloco organizacional relatam resultado real com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514E"/>
                </a:solidFill>
                <a:latin typeface="Helvetica Neue"/>
              </a:rPr>
              <a:t>38% ainda estão em piloto sem resultado — a pergunta que decide o próximo ciclo de investimento não é mais "quem usa", é "quem entrega"</a:t>
            </a:r>
          </a:p>
        </p:txBody>
      </p:sp>
      <p:pic>
        <p:nvPicPr>
          <p:cNvPr id="4" name="Picture 3" descr="12_impacto_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520" y="1371600"/>
            <a:ext cx="9832654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2817C"/>
                </a:solidFill>
                <a:latin typeface="Helvetica Neue"/>
              </a:rPr>
              <a:t>Pergunta exclusiva da edição 2025-26 (n=646); não há série histórica para comparar.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2A78D6"/>
                </a:solidFill>
                <a:latin typeface="Helvetica Neue"/>
              </a:rPr>
              <a:t>05</a:t>
            </a:r>
          </a:p>
        </p:txBody>
      </p:sp>
      <p:sp>
        <p:nvSpPr>
          <p:cNvPr id="3" name="Rectangle 2"/>
          <p:cNvSpPr/>
          <p:nvPr/>
        </p:nvSpPr>
        <p:spPr>
          <a:xfrm>
            <a:off x="960120" y="3429000"/>
            <a:ext cx="201168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7033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B0B0B"/>
                </a:solidFill>
                <a:latin typeface="Helvetica Neue"/>
              </a:rPr>
              <a:t>Modelos de trabalho e geografia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2514E"/>
                </a:solidFill>
                <a:latin typeface="Helvetica Neue"/>
              </a:rPr>
              <a:t>Onde estão os profissionais, como trabalham e quanto custa contratá-los em cada região?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B0B0B"/>
                </a:solidFill>
                <a:latin typeface="Helvetica Neue"/>
              </a:rPr>
              <a:t>O retorno ao presencial é real, mas lento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514E"/>
                </a:solidFill>
                <a:latin typeface="Helvetica Neue"/>
              </a:rPr>
              <a:t>O trabalho remoto caiu de 46% para 40%, enquanto o presencial subiu de 17% para 21%</a:t>
            </a:r>
          </a:p>
        </p:txBody>
      </p:sp>
      <p:pic>
        <p:nvPicPr>
          <p:cNvPr id="4" name="Picture 3" descr="09_modelo_trabal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994" y="1371600"/>
            <a:ext cx="7897706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B0B0B"/>
                </a:solidFill>
                <a:latin typeface="Helvetica Neue"/>
              </a:rPr>
              <a:t>O gap Nordeste-Sudeste é de 14% no Júnior — e some no Sênior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514E"/>
                </a:solidFill>
                <a:latin typeface="Helvetica Neue"/>
              </a:rPr>
              <a:t>Comparação bruta (todo mundo de uma região contra a outra) mistura composição de carreira com diferença regional; controlando por senioridade, a distância real está na base</a:t>
            </a:r>
          </a:p>
        </p:txBody>
      </p:sp>
      <p:pic>
        <p:nvPicPr>
          <p:cNvPr id="4" name="Picture 3" descr="10_salario_regi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237" y="1371600"/>
            <a:ext cx="8967221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2817C"/>
                </a:solidFill>
                <a:latin typeface="Helvetica Neue"/>
              </a:rPr>
              <a:t>Usa-se a média, e não a mediana: as faixas salariais da pesquisa são largas e a mediana de todas as regiões cai na mesma faixa. Especialista/Staff+ no Nordeste tem amostra abaixo de 30 respondentes — resultado indicativo, não comparação firme.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45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2A78D6"/>
                </a:solidFill>
                <a:latin typeface="Helvetica Neue"/>
              </a:rPr>
              <a:t>06</a:t>
            </a:r>
          </a:p>
        </p:txBody>
      </p:sp>
      <p:sp>
        <p:nvSpPr>
          <p:cNvPr id="3" name="Rectangle 2"/>
          <p:cNvSpPr/>
          <p:nvPr/>
        </p:nvSpPr>
        <p:spPr>
          <a:xfrm>
            <a:off x="960120" y="3429000"/>
            <a:ext cx="201168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7033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B0B0B"/>
                </a:solidFill>
                <a:latin typeface="Helvetica Neue"/>
              </a:rPr>
              <a:t>Recomendações estratégicas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2514E"/>
                </a:solidFill>
                <a:latin typeface="Helvetica Neue"/>
              </a:rPr>
              <a:t>O que a instituição financeira deve fazer com esta evidência.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0B0B"/>
                </a:solidFill>
                <a:latin typeface="Helvetica Neue"/>
              </a:rPr>
              <a:t>Contratação: onde está a arbitragem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514E"/>
                </a:solidFill>
                <a:latin typeface="Helvetica Neue"/>
              </a:rPr>
              <a:t>Quatro movimentos que reduzem custo sem reduzir qualidade do time.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50292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01368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0B0B"/>
                </a:solidFill>
                <a:latin typeface="Helvetica Neue"/>
              </a:rPr>
              <a:t>Formar em vez de disputar sênior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2514E"/>
                </a:solidFill>
                <a:latin typeface="Helvetica Neue"/>
              </a:rPr>
              <a:t>O Sênior custa 4,0x o Júnior e é o perfil mais disputado. Contratar Pleno e investir em trilha interna captura a maior parte da competência por fração do custo.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691640"/>
            <a:ext cx="502920" cy="508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801368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0B0B"/>
                </a:solidFill>
                <a:latin typeface="Helvetica Neue"/>
              </a:rPr>
              <a:t>Usar o remoto como alavanca geográfica — só na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194560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2514E"/>
                </a:solidFill>
                <a:latin typeface="Helvetica Neue"/>
              </a:rPr>
              <a:t>Com 40% do mercado em regime remoto, contratar Júnior no Nordeste custa 14% menos que no Sudeste. No Sênior essa vantagem já não existe — a arbitragem funciona para formar talento, não para economizar no topo da carreira.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520440"/>
            <a:ext cx="50292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630168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0B0B"/>
                </a:solidFill>
                <a:latin typeface="Helvetica Neue"/>
              </a:rPr>
              <a:t>Priorizar Engenharia de Dados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2514E"/>
                </a:solidFill>
                <a:latin typeface="Helvetica Neue"/>
              </a:rPr>
              <a:t>É a segunda maior família de carreira e a que sustenta qualquer iniciativa de IA. Sem base de dados confiável, investimento em modelo não se converte em resultado.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3520440"/>
            <a:ext cx="502920" cy="508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3630168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0B0B"/>
                </a:solidFill>
                <a:latin typeface="Helvetica Neue"/>
              </a:rPr>
              <a:t>Tratar diversidade como risco de talento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23360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2514E"/>
                </a:solidFill>
                <a:latin typeface="Helvetica Neue"/>
              </a:rPr>
              <a:t>Com a participação feminina em 22% e em queda, quem não atuar sobre retenção e promoção disputa um funil cada vez mais estreito.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0B0B"/>
                </a:solidFill>
                <a:latin typeface="Helvetica Neue"/>
              </a:rPr>
              <a:t>Tecnologia e IA: onde investir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514E"/>
                </a:solidFill>
                <a:latin typeface="Helvetica Neue"/>
              </a:rPr>
              <a:t>A stack a padronizar e o estágio real da adoção de IA.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50292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01368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0B0B"/>
                </a:solidFill>
                <a:latin typeface="Helvetica Neue"/>
              </a:rPr>
              <a:t>Padronizar na stack consolidada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2514E"/>
                </a:solidFill>
                <a:latin typeface="Helvetica Neue"/>
              </a:rPr>
              <a:t>SQL, AWS e Power BI concentram a adoção. Escolher fora disso aumenta o custo e o tempo de contratação.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691640"/>
            <a:ext cx="502920" cy="508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801368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0B0B"/>
                </a:solidFill>
                <a:latin typeface="Helvetica Neue"/>
              </a:rPr>
              <a:t>Fechar a lacuna de IA pelo lado da empresa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194560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2514E"/>
                </a:solidFill>
                <a:latin typeface="Helvetica Neue"/>
              </a:rPr>
              <a:t>98% dos profissionais já usam IA generativa, mas só 62% dos respondentes do bloco organizacional relatam que a empresa prioriza IA — blocos diferentes do questionário, não a mesma amostra. O uso já acontece — sem política, acontece sem governança.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520440"/>
            <a:ext cx="50292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630168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0B0B"/>
                </a:solidFill>
                <a:latin typeface="Helvetica Neue"/>
              </a:rPr>
              <a:t>Ancorar a governança antes de escalar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2514E"/>
                </a:solidFill>
                <a:latin typeface="Helvetica Neue"/>
              </a:rPr>
              <a:t>Uso individual de ferramentas pagas do próprio bolso é comum na amostra. Para uma instituição financeira, isso é exposição de dado sensível a fornecedor não homologado.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3520440"/>
            <a:ext cx="502920" cy="508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3630168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0B0B"/>
                </a:solidFill>
                <a:latin typeface="Helvetica Neue"/>
              </a:rPr>
              <a:t>Medir retorno, não adoção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23360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2514E"/>
                </a:solidFill>
                <a:latin typeface="Helvetica Neue"/>
              </a:rPr>
              <a:t>A adoção individual já está saturada (98%). O que diferencia as empresas agora é sair do piloto: só 26% do bloco organizacional relata resultado — a maioria (38%) ainda testa sem retorno mensurável.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B0B0B"/>
                </a:solidFill>
                <a:latin typeface="Helvetica Neue"/>
              </a:rPr>
              <a:t>Notas metodológicas e limitações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2514E"/>
                </a:solidFill>
                <a:latin typeface="Helvetica Neue"/>
              </a:rPr>
              <a:t>O que este estudo pode e o que não pode sustentar.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50292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01368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0B0B"/>
                </a:solidFill>
                <a:latin typeface="Helvetica Neue"/>
              </a:rPr>
              <a:t>Amostra autosselecionada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2514E"/>
                </a:solidFill>
                <a:latin typeface="Helvetica Neue"/>
              </a:rPr>
              <a:t>A pesquisa é respondida por voluntários da comunidade Data Hackers. Sobre-representa profissionais engajados e o Sudeste; não é uma amostra probabilística do mercado.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691640"/>
            <a:ext cx="502920" cy="508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801368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0B0B"/>
                </a:solidFill>
                <a:latin typeface="Helvetica Neue"/>
              </a:rPr>
              <a:t>Salário em faixas largas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194560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2514E"/>
                </a:solidFill>
                <a:latin typeface="Helvetica Neue"/>
              </a:rPr>
              <a:t>A remuneração é coletada em intervalos, convertidos aqui no ponto médio. Diferenças menores que uma faixa não são detectáveis — daí o uso da média nos cortes regionais.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520440"/>
            <a:ext cx="502920" cy="50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630168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0B0B"/>
                </a:solidFill>
                <a:latin typeface="Helvetica Neue"/>
              </a:rPr>
              <a:t>Base decrescente entre edições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023360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2514E"/>
                </a:solidFill>
                <a:latin typeface="Helvetica Neue"/>
              </a:rPr>
              <a:t>De 5.293 respondentes na primeira edição para 3.494 na última. Comparações entre anos são de proporção, nunca de volume absoluto.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3520440"/>
            <a:ext cx="502920" cy="508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3630168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0B0B"/>
                </a:solidFill>
                <a:latin typeface="Helvetica Neue"/>
              </a:rPr>
              <a:t>Perguntas não comparáveis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23360"/>
            <a:ext cx="5349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52514E"/>
                </a:solidFill>
                <a:latin typeface="Helvetica Neue"/>
              </a:rPr>
              <a:t>Blocos que existem em apenas parte das edições são analisados somente nos anos disponíveis, e os gráficos indicam isso explicitamente.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2817C"/>
                </a:solidFill>
                <a:latin typeface="Helvetica Neue"/>
              </a:rPr>
              <a:t>Pipeline, consultas e scripts completos no repositório do projeto. Todos os números deste material são gerados a partir da camada Gold, sem digitação manual.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